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601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863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07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48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488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79552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17957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56362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94767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33172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71576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09981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48386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6791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63600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02005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540410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78815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617220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55624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74320"/>
            <a:ext cx="11612880" cy="6309360"/>
          </a:xfrm>
          <a:prstGeom prst="roundRect">
            <a:avLst>
              <a:gd name="adj" fmla="val 870"/>
            </a:avLst>
          </a:prstGeom>
          <a:ln w="22225">
            <a:solidFill>
              <a:srgbClr val="9C7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384048"/>
            <a:ext cx="11393424" cy="6089904"/>
          </a:xfrm>
          <a:prstGeom prst="roundRect">
            <a:avLst>
              <a:gd name="adj" fmla="val 751"/>
            </a:avLst>
          </a:prstGeom>
          <a:ln w="12700">
            <a:solidFill>
              <a:srgbClr val="F7DC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720000">
            <a:off x="621792" y="566928"/>
            <a:ext cx="310896" cy="310896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3" name="Shape 51"/>
          <p:cNvSpPr/>
          <p:nvPr/>
        </p:nvSpPr>
        <p:spPr>
          <a:xfrm rot="840000">
            <a:off x="1417320" y="868680"/>
            <a:ext cx="182880" cy="182880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4" name="Shape 52"/>
          <p:cNvSpPr/>
          <p:nvPr/>
        </p:nvSpPr>
        <p:spPr>
          <a:xfrm rot="360000">
            <a:off x="2377440" y="548640"/>
            <a:ext cx="237744" cy="237744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5" name="Shape 53"/>
          <p:cNvSpPr/>
          <p:nvPr/>
        </p:nvSpPr>
        <p:spPr>
          <a:xfrm rot="-1080000">
            <a:off x="3474720" y="841248"/>
            <a:ext cx="164592" cy="16459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6" name="Shape 54"/>
          <p:cNvSpPr/>
          <p:nvPr/>
        </p:nvSpPr>
        <p:spPr>
          <a:xfrm rot="600000">
            <a:off x="8503920" y="548640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7" name="Shape 55"/>
          <p:cNvSpPr/>
          <p:nvPr/>
        </p:nvSpPr>
        <p:spPr>
          <a:xfrm rot="1200000">
            <a:off x="9601200" y="868680"/>
            <a:ext cx="164592" cy="16459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8" name="Shape 56"/>
          <p:cNvSpPr/>
          <p:nvPr/>
        </p:nvSpPr>
        <p:spPr>
          <a:xfrm rot="-480000">
            <a:off x="10515600" y="530352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9" name="Shape 57"/>
          <p:cNvSpPr/>
          <p:nvPr/>
        </p:nvSpPr>
        <p:spPr>
          <a:xfrm rot="720000">
            <a:off x="11201400" y="91440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0" name="Shape 58"/>
          <p:cNvSpPr/>
          <p:nvPr/>
        </p:nvSpPr>
        <p:spPr>
          <a:xfrm rot="480000">
            <a:off x="566928" y="182880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1" name="Shape 59"/>
          <p:cNvSpPr/>
          <p:nvPr/>
        </p:nvSpPr>
        <p:spPr>
          <a:xfrm rot="-840000">
            <a:off x="868680" y="2834640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2" name="Shape 60"/>
          <p:cNvSpPr/>
          <p:nvPr/>
        </p:nvSpPr>
        <p:spPr>
          <a:xfrm rot="960000">
            <a:off x="548640" y="3931920"/>
            <a:ext cx="182880" cy="182880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3" name="Shape 61"/>
          <p:cNvSpPr/>
          <p:nvPr/>
        </p:nvSpPr>
        <p:spPr>
          <a:xfrm rot="-360000">
            <a:off x="822960" y="4937760"/>
            <a:ext cx="237744" cy="237744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4" name="Shape 62"/>
          <p:cNvSpPr/>
          <p:nvPr/>
        </p:nvSpPr>
        <p:spPr>
          <a:xfrm rot="600000">
            <a:off x="11247120" y="1920240"/>
            <a:ext cx="256032" cy="25603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5" name="Shape 63"/>
          <p:cNvSpPr/>
          <p:nvPr/>
        </p:nvSpPr>
        <p:spPr>
          <a:xfrm rot="-720000">
            <a:off x="10927080" y="2926080"/>
            <a:ext cx="182880" cy="18288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6" name="Shape 64"/>
          <p:cNvSpPr/>
          <p:nvPr/>
        </p:nvSpPr>
        <p:spPr>
          <a:xfrm rot="480000">
            <a:off x="11292840" y="3977640"/>
            <a:ext cx="219456" cy="219456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7" name="Shape 65"/>
          <p:cNvSpPr/>
          <p:nvPr/>
        </p:nvSpPr>
        <p:spPr>
          <a:xfrm rot="-960000">
            <a:off x="10954512" y="5029200"/>
            <a:ext cx="182880" cy="182880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8" name="Shape 66"/>
          <p:cNvSpPr/>
          <p:nvPr/>
        </p:nvSpPr>
        <p:spPr>
          <a:xfrm rot="-600000">
            <a:off x="603504" y="5870448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9" name="Shape 67"/>
          <p:cNvSpPr/>
          <p:nvPr/>
        </p:nvSpPr>
        <p:spPr>
          <a:xfrm rot="720000">
            <a:off x="1554480" y="6172200"/>
            <a:ext cx="182880" cy="182880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70" name="Shape 68"/>
          <p:cNvSpPr/>
          <p:nvPr/>
        </p:nvSpPr>
        <p:spPr>
          <a:xfrm rot="-480000">
            <a:off x="2651760" y="5852160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71" name="Shape 69"/>
          <p:cNvSpPr/>
          <p:nvPr/>
        </p:nvSpPr>
        <p:spPr>
          <a:xfrm rot="840000">
            <a:off x="9144000" y="6172200"/>
            <a:ext cx="182880" cy="18288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72" name="Shape 70"/>
          <p:cNvSpPr/>
          <p:nvPr/>
        </p:nvSpPr>
        <p:spPr>
          <a:xfrm rot="-600000">
            <a:off x="10241280" y="5852160"/>
            <a:ext cx="256032" cy="25603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73" name="Shape 71"/>
          <p:cNvSpPr/>
          <p:nvPr/>
        </p:nvSpPr>
        <p:spPr>
          <a:xfrm rot="480000">
            <a:off x="11247120" y="6108192"/>
            <a:ext cx="201168" cy="201168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1463040" y="1234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1097280" y="17830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200" dirty="0">
                <a:solidFill>
                  <a:srgbClr val="E28E8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KMP TEXT FINDER</a:t>
            </a:r>
            <a:endParaRPr lang="en-US" sz="6000" dirty="0"/>
          </a:p>
        </p:txBody>
      </p:sp>
      <p:sp>
        <p:nvSpPr>
          <p:cNvPr id="76" name="Text 74"/>
          <p:cNvSpPr txBox="1"/>
          <p:nvPr/>
        </p:nvSpPr>
        <p:spPr>
          <a:xfrm>
            <a:off x="1097280" y="2743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C466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SEARCHING SMARTER</a:t>
            </a:r>
            <a:endParaRPr lang="en-US" sz="4200" dirty="0"/>
          </a:p>
        </p:txBody>
      </p:sp>
      <p:sp>
        <p:nvSpPr>
          <p:cNvPr id="77" name="Text 75"/>
          <p:cNvSpPr txBox="1"/>
          <p:nvPr/>
        </p:nvSpPr>
        <p:spPr>
          <a:xfrm>
            <a:off x="1463040" y="3657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4A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Pattern Matching with the Knuth-Morris-Pratt Algorithm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3246120" y="4315968"/>
            <a:ext cx="5669280" cy="566928"/>
          </a:xfrm>
          <a:prstGeom prst="roundRect">
            <a:avLst>
              <a:gd name="adj" fmla="val 48387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246120" y="431596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 •  Section 3  •  A.Y. 2026-2027</a:t>
            </a:r>
            <a:endParaRPr lang="en-US" sz="1350" dirty="0"/>
          </a:p>
        </p:txBody>
      </p:sp>
      <p:sp>
        <p:nvSpPr>
          <p:cNvPr id="80" name="Text 78"/>
          <p:cNvSpPr txBox="1"/>
          <p:nvPr/>
        </p:nvSpPr>
        <p:spPr>
          <a:xfrm>
            <a:off x="196596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Surya Prakasika (2520030444)  |  Asthra Pilla (2520030044)</a:t>
            </a:r>
            <a:endParaRPr lang="en-US" sz="130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4760B90B-9554-E70C-BAA3-7F088A0B0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830" y="254521"/>
            <a:ext cx="1431748" cy="1431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863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07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48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488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79552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17957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56362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94767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33172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71576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09981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48386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6791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63600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02005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540410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78815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617220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55624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74320"/>
            <a:ext cx="11612880" cy="6309360"/>
          </a:xfrm>
          <a:prstGeom prst="roundRect">
            <a:avLst>
              <a:gd name="adj" fmla="val 870"/>
            </a:avLst>
          </a:prstGeom>
          <a:ln w="22225">
            <a:solidFill>
              <a:srgbClr val="9C7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384048"/>
            <a:ext cx="11393424" cy="6089904"/>
          </a:xfrm>
          <a:prstGeom prst="roundRect">
            <a:avLst>
              <a:gd name="adj" fmla="val 751"/>
            </a:avLst>
          </a:prstGeom>
          <a:ln w="12700">
            <a:solidFill>
              <a:srgbClr val="F7DC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720000">
            <a:off x="502920" y="566928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3" name="Shape 51"/>
          <p:cNvSpPr/>
          <p:nvPr/>
        </p:nvSpPr>
        <p:spPr>
          <a:xfrm rot="900000">
            <a:off x="548640" y="132588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4" name="Shape 52"/>
          <p:cNvSpPr/>
          <p:nvPr/>
        </p:nvSpPr>
        <p:spPr>
          <a:xfrm rot="600000">
            <a:off x="11384280" y="566928"/>
            <a:ext cx="256032" cy="25603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5" name="Shape 53"/>
          <p:cNvSpPr/>
          <p:nvPr/>
        </p:nvSpPr>
        <p:spPr>
          <a:xfrm rot="-1200000">
            <a:off x="11430000" y="1234440"/>
            <a:ext cx="164592" cy="16459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6" name="Shape 54"/>
          <p:cNvSpPr/>
          <p:nvPr/>
        </p:nvSpPr>
        <p:spPr>
          <a:xfrm rot="480000">
            <a:off x="530352" y="5257800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7" name="Shape 55"/>
          <p:cNvSpPr/>
          <p:nvPr/>
        </p:nvSpPr>
        <p:spPr>
          <a:xfrm rot="-480000">
            <a:off x="11411712" y="5394960"/>
            <a:ext cx="256032" cy="25603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68680" y="65836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66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Agenda</a:t>
            </a:r>
            <a:endParaRPr lang="en-US" sz="3400" dirty="0"/>
          </a:p>
        </p:txBody>
      </p:sp>
      <p:sp>
        <p:nvSpPr>
          <p:cNvPr id="59" name="Text 57"/>
          <p:cNvSpPr txBox="1"/>
          <p:nvPr/>
        </p:nvSpPr>
        <p:spPr>
          <a:xfrm>
            <a:off x="886968" y="1335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how the next few minutes will go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1051560" y="1874520"/>
            <a:ext cx="10058400" cy="704088"/>
          </a:xfrm>
          <a:prstGeom prst="roundRect">
            <a:avLst>
              <a:gd name="adj" fmla="val 15584"/>
            </a:avLst>
          </a:prstGeom>
          <a:solidFill>
            <a:srgbClr val="FFFCF6"/>
          </a:solidFill>
          <a:ln w="13970">
            <a:solidFill>
              <a:srgbClr val="9C7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98448" y="2002536"/>
            <a:ext cx="457200" cy="457200"/>
          </a:xfrm>
          <a:prstGeom prst="ellipse">
            <a:avLst/>
          </a:prstGeom>
          <a:solidFill>
            <a:srgbClr val="FBE8E2"/>
          </a:solidFill>
          <a:ln w="9525">
            <a:solidFill>
              <a:srgbClr val="9C7A5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29844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201168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Abstract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5897880" y="1965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snapshot of what we built and why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1051560" y="2743200"/>
            <a:ext cx="10058400" cy="704088"/>
          </a:xfrm>
          <a:prstGeom prst="roundRect">
            <a:avLst>
              <a:gd name="adj" fmla="val 15584"/>
            </a:avLst>
          </a:prstGeom>
          <a:solidFill>
            <a:srgbClr val="FFFCF6"/>
          </a:solidFill>
          <a:ln w="13970">
            <a:solidFill>
              <a:srgbClr val="9C7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98448" y="2871216"/>
            <a:ext cx="457200" cy="457200"/>
          </a:xfrm>
          <a:prstGeom prst="ellipse">
            <a:avLst/>
          </a:prstGeom>
          <a:solidFill>
            <a:srgbClr val="F7DCA8"/>
          </a:solidFill>
          <a:ln w="9525">
            <a:solidFill>
              <a:srgbClr val="9C7A5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29844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201168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5897880" y="2834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plain text search runs out of steam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1051560" y="3611880"/>
            <a:ext cx="10058400" cy="704088"/>
          </a:xfrm>
          <a:prstGeom prst="roundRect">
            <a:avLst>
              <a:gd name="adj" fmla="val 15584"/>
            </a:avLst>
          </a:prstGeom>
          <a:solidFill>
            <a:srgbClr val="FFFCF6"/>
          </a:solidFill>
          <a:ln w="13970">
            <a:solidFill>
              <a:srgbClr val="9C7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298448" y="3739896"/>
            <a:ext cx="457200" cy="457200"/>
          </a:xfrm>
          <a:prstGeom prst="ellipse">
            <a:avLst/>
          </a:prstGeom>
          <a:solidFill>
            <a:srgbClr val="FBE8E2"/>
          </a:solidFill>
          <a:ln w="9525">
            <a:solidFill>
              <a:srgbClr val="9C7A5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298448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2011680" y="3703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Proposed Functionalities</a:t>
            </a:r>
            <a:endParaRPr lang="en-US" sz="1600" dirty="0"/>
          </a:p>
        </p:txBody>
      </p:sp>
      <p:sp>
        <p:nvSpPr>
          <p:cNvPr id="74" name="Text 72"/>
          <p:cNvSpPr txBox="1"/>
          <p:nvPr/>
        </p:nvSpPr>
        <p:spPr>
          <a:xfrm>
            <a:off x="5897880" y="3703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KMP Text Finder actually does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1051560" y="4480560"/>
            <a:ext cx="10058400" cy="704088"/>
          </a:xfrm>
          <a:prstGeom prst="roundRect">
            <a:avLst>
              <a:gd name="adj" fmla="val 15584"/>
            </a:avLst>
          </a:prstGeom>
          <a:solidFill>
            <a:srgbClr val="FFFCF6"/>
          </a:solidFill>
          <a:ln w="13970">
            <a:solidFill>
              <a:srgbClr val="9C7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298448" y="4608576"/>
            <a:ext cx="457200" cy="457200"/>
          </a:xfrm>
          <a:prstGeom prst="ellipse">
            <a:avLst/>
          </a:prstGeom>
          <a:solidFill>
            <a:srgbClr val="F7DCA8"/>
          </a:solidFill>
          <a:ln w="9525">
            <a:solidFill>
              <a:srgbClr val="9C7A5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29844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78" name="Text 76"/>
          <p:cNvSpPr txBox="1"/>
          <p:nvPr/>
        </p:nvSpPr>
        <p:spPr>
          <a:xfrm>
            <a:off x="2011680" y="4572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Tools &amp; Technologies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5897880" y="4572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and the concepts behind it</a:t>
            </a:r>
            <a:endParaRPr lang="en-US" sz="1250" dirty="0"/>
          </a:p>
        </p:txBody>
      </p:sp>
      <p:sp>
        <p:nvSpPr>
          <p:cNvPr id="80" name="Shape 78"/>
          <p:cNvSpPr/>
          <p:nvPr/>
        </p:nvSpPr>
        <p:spPr>
          <a:xfrm>
            <a:off x="1051560" y="5349240"/>
            <a:ext cx="10058400" cy="704088"/>
          </a:xfrm>
          <a:prstGeom prst="roundRect">
            <a:avLst>
              <a:gd name="adj" fmla="val 15584"/>
            </a:avLst>
          </a:prstGeom>
          <a:solidFill>
            <a:srgbClr val="FFFCF6"/>
          </a:solidFill>
          <a:ln w="13970">
            <a:solidFill>
              <a:srgbClr val="9C7A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298448" y="5477256"/>
            <a:ext cx="457200" cy="457200"/>
          </a:xfrm>
          <a:prstGeom prst="ellipse">
            <a:avLst/>
          </a:prstGeom>
          <a:solidFill>
            <a:srgbClr val="FBE8E2"/>
          </a:solidFill>
          <a:ln w="9525">
            <a:solidFill>
              <a:srgbClr val="9C7A5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298448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83" name="Text 81"/>
          <p:cNvSpPr txBox="1"/>
          <p:nvPr/>
        </p:nvSpPr>
        <p:spPr>
          <a:xfrm>
            <a:off x="2011680" y="5440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5897880" y="5440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hope to learn and deliver</a:t>
            </a:r>
            <a:endParaRPr lang="en-US" sz="1250" dirty="0"/>
          </a:p>
        </p:txBody>
      </p:sp>
      <p:sp>
        <p:nvSpPr>
          <p:cNvPr id="86" name="Shape 84"/>
          <p:cNvSpPr/>
          <p:nvPr/>
        </p:nvSpPr>
        <p:spPr>
          <a:xfrm>
            <a:off x="11109960" y="6236208"/>
            <a:ext cx="384048" cy="384048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1109960" y="6236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B5624C3C-DE59-32BE-E6C6-1B6501FBA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830" y="294626"/>
            <a:ext cx="1431748" cy="14317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863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07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48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488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79552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17957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56362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94767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33172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71576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09981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48386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6791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63600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02005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540410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78815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617220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55624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74320"/>
            <a:ext cx="11612880" cy="6309360"/>
          </a:xfrm>
          <a:prstGeom prst="roundRect">
            <a:avLst>
              <a:gd name="adj" fmla="val 870"/>
            </a:avLst>
          </a:prstGeom>
          <a:ln w="22225">
            <a:solidFill>
              <a:srgbClr val="9C7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384048"/>
            <a:ext cx="11393424" cy="6089904"/>
          </a:xfrm>
          <a:prstGeom prst="roundRect">
            <a:avLst>
              <a:gd name="adj" fmla="val 751"/>
            </a:avLst>
          </a:prstGeom>
          <a:ln w="12700">
            <a:solidFill>
              <a:srgbClr val="F7DC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720000">
            <a:off x="530352" y="603504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3" name="Shape 51"/>
          <p:cNvSpPr/>
          <p:nvPr/>
        </p:nvSpPr>
        <p:spPr>
          <a:xfrm rot="-840000">
            <a:off x="11375136" y="548640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4" name="Shape 52"/>
          <p:cNvSpPr/>
          <p:nvPr/>
        </p:nvSpPr>
        <p:spPr>
          <a:xfrm rot="1200000">
            <a:off x="11448288" y="128016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5" name="Shape 53"/>
          <p:cNvSpPr/>
          <p:nvPr/>
        </p:nvSpPr>
        <p:spPr>
          <a:xfrm rot="-600000">
            <a:off x="512064" y="5349240"/>
            <a:ext cx="256032" cy="25603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6" name="Shape 54"/>
          <p:cNvSpPr/>
          <p:nvPr/>
        </p:nvSpPr>
        <p:spPr>
          <a:xfrm rot="720000">
            <a:off x="566928" y="137160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7" name="Shape 55"/>
          <p:cNvSpPr/>
          <p:nvPr/>
        </p:nvSpPr>
        <p:spPr>
          <a:xfrm rot="-360000">
            <a:off x="11430000" y="521208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68680" y="65836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66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9" name="Text 57"/>
          <p:cNvSpPr txBox="1"/>
          <p:nvPr/>
        </p:nvSpPr>
        <p:spPr>
          <a:xfrm>
            <a:off x="886968" y="1335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 a nutshell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14400" y="1828800"/>
            <a:ext cx="3657600" cy="3703320"/>
          </a:xfrm>
          <a:prstGeom prst="roundRect">
            <a:avLst>
              <a:gd name="adj" fmla="val 3000"/>
            </a:avLst>
          </a:prstGeom>
          <a:solidFill>
            <a:srgbClr val="FBE8E2"/>
          </a:solidFill>
          <a:ln w="15875">
            <a:solidFill>
              <a:srgbClr val="E28E8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188720" y="2084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4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1188720" y="2377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466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O(n + m)</a:t>
            </a:r>
            <a:endParaRPr lang="en-US" sz="4400" dirty="0"/>
          </a:p>
        </p:txBody>
      </p:sp>
      <p:sp>
        <p:nvSpPr>
          <p:cNvPr id="63" name="Text 61"/>
          <p:cNvSpPr txBox="1"/>
          <p:nvPr/>
        </p:nvSpPr>
        <p:spPr>
          <a:xfrm>
            <a:off x="118872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length of the text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length of the pattern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188720" y="3858768"/>
            <a:ext cx="3108960" cy="0"/>
          </a:xfrm>
          <a:prstGeom prst="line">
            <a:avLst/>
          </a:prstGeom>
          <a:noFill/>
          <a:ln w="13970">
            <a:solidFill>
              <a:srgbClr val="E28E8E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 rot="-720000">
            <a:off x="4041648" y="2029968"/>
            <a:ext cx="256032" cy="25603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188720" y="404164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the LPS (Longest Prefix Suffix) array — the little lookup table that lets KMP skip everything it has already matched.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4956048" y="1929384"/>
            <a:ext cx="182880" cy="18288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5321808" y="180136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KMP Text Finder is a text-searching application built on Advanced Data Structures and Algorithms concepts, designed to locate a given pattern inside a large body of text quickly and reliably.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 rot="540000">
            <a:off x="4956048" y="2990088"/>
            <a:ext cx="182880" cy="182880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5321808" y="286207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re-checking characters the way a brute-force search does, it preprocesses the pattern into an LPS array and uses that to skip ahead intelligently while scanning.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 rot="1080000">
            <a:off x="4956048" y="4050792"/>
            <a:ext cx="182880" cy="18288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321808" y="3922776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pulls together string matching, preprocessing, arrays and complexity analysis — the heart of DSA-3 — into one practical, hands-on build.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 rot="1620000">
            <a:off x="4956048" y="4910328"/>
            <a:ext cx="182880" cy="182880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321808" y="478231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quietly powers document search, text editors, search engines, plagiarism checkers and information-retrieval systems.</a:t>
            </a:r>
            <a:endParaRPr lang="en-US" sz="1350" dirty="0"/>
          </a:p>
        </p:txBody>
      </p:sp>
      <p:sp>
        <p:nvSpPr>
          <p:cNvPr id="75" name="Text 73"/>
          <p:cNvSpPr txBox="1"/>
          <p:nvPr/>
        </p:nvSpPr>
        <p:spPr>
          <a:xfrm>
            <a:off x="7772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1109960" y="6236208"/>
            <a:ext cx="384048" cy="384048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1109960" y="6236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F436F239-1D13-9E89-B039-3D1FBF008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830" y="278584"/>
            <a:ext cx="1431748" cy="14317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863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07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48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488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79552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17957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56362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94767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33172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71576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09981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48386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6791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63600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02005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540410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78815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617220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55624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74320"/>
            <a:ext cx="11612880" cy="6309360"/>
          </a:xfrm>
          <a:prstGeom prst="roundRect">
            <a:avLst>
              <a:gd name="adj" fmla="val 870"/>
            </a:avLst>
          </a:prstGeom>
          <a:ln w="22225">
            <a:solidFill>
              <a:srgbClr val="9C7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384048"/>
            <a:ext cx="11393424" cy="6089904"/>
          </a:xfrm>
          <a:prstGeom prst="roundRect">
            <a:avLst>
              <a:gd name="adj" fmla="val 751"/>
            </a:avLst>
          </a:prstGeom>
          <a:ln w="12700">
            <a:solidFill>
              <a:srgbClr val="F7DC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720000">
            <a:off x="502920" y="566928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3" name="Shape 51"/>
          <p:cNvSpPr/>
          <p:nvPr/>
        </p:nvSpPr>
        <p:spPr>
          <a:xfrm rot="900000">
            <a:off x="548640" y="132588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4" name="Shape 52"/>
          <p:cNvSpPr/>
          <p:nvPr/>
        </p:nvSpPr>
        <p:spPr>
          <a:xfrm rot="600000">
            <a:off x="11384280" y="566928"/>
            <a:ext cx="256032" cy="25603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5" name="Shape 53"/>
          <p:cNvSpPr/>
          <p:nvPr/>
        </p:nvSpPr>
        <p:spPr>
          <a:xfrm rot="-1200000">
            <a:off x="11430000" y="1234440"/>
            <a:ext cx="164592" cy="16459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6" name="Shape 54"/>
          <p:cNvSpPr/>
          <p:nvPr/>
        </p:nvSpPr>
        <p:spPr>
          <a:xfrm rot="480000">
            <a:off x="530352" y="5257800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7" name="Shape 55"/>
          <p:cNvSpPr/>
          <p:nvPr/>
        </p:nvSpPr>
        <p:spPr>
          <a:xfrm rot="-480000">
            <a:off x="11411712" y="5394960"/>
            <a:ext cx="256032" cy="25603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68680" y="65836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66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9" name="Text 57"/>
          <p:cNvSpPr txBox="1"/>
          <p:nvPr/>
        </p:nvSpPr>
        <p:spPr>
          <a:xfrm>
            <a:off x="886968" y="1335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searching large text still need a smarter algorithm?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14400" y="1874520"/>
            <a:ext cx="4846320" cy="3977640"/>
          </a:xfrm>
          <a:prstGeom prst="roundRect">
            <a:avLst>
              <a:gd name="adj" fmla="val 2759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34440" y="1682496"/>
            <a:ext cx="2066544" cy="384048"/>
          </a:xfrm>
          <a:prstGeom prst="roundRect">
            <a:avLst>
              <a:gd name="adj" fmla="val 47619"/>
            </a:avLst>
          </a:prstGeom>
          <a:solidFill>
            <a:srgbClr val="FBE8E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234440" y="168249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C4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1234440" y="2258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Brute-Force Searching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1234440" y="2825496"/>
            <a:ext cx="256032" cy="256032"/>
          </a:xfrm>
          <a:prstGeom prst="ellipse">
            <a:avLst/>
          </a:prstGeom>
          <a:solidFill>
            <a:srgbClr val="FBE8E2"/>
          </a:solidFill>
          <a:ln w="9525">
            <a:solidFill>
              <a:srgbClr val="E28E8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23444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1627632" y="275234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the pattern up at every single position in the text and compares one character at a time.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1234440" y="3575304"/>
            <a:ext cx="256032" cy="256032"/>
          </a:xfrm>
          <a:prstGeom prst="ellipse">
            <a:avLst/>
          </a:prstGeom>
          <a:solidFill>
            <a:srgbClr val="FBE8E2"/>
          </a:solidFill>
          <a:ln w="9525">
            <a:solidFill>
              <a:srgbClr val="E28E8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23444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1627632" y="350215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away what it already matched the moment a mismatch appears — it has no memory.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1234440" y="4325112"/>
            <a:ext cx="256032" cy="256032"/>
          </a:xfrm>
          <a:prstGeom prst="ellipse">
            <a:avLst/>
          </a:prstGeom>
          <a:solidFill>
            <a:srgbClr val="FBE8E2"/>
          </a:solidFill>
          <a:ln w="9525">
            <a:solidFill>
              <a:srgbClr val="E28E8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23444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1627632" y="425196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 to O(n × m) in the worst case, which really hurts on long documents.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1234440" y="5074920"/>
            <a:ext cx="256032" cy="256032"/>
          </a:xfrm>
          <a:prstGeom prst="ellipse">
            <a:avLst/>
          </a:prstGeom>
          <a:solidFill>
            <a:srgbClr val="FBE8E2"/>
          </a:solidFill>
          <a:ln w="9525">
            <a:solidFill>
              <a:srgbClr val="E28E8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234440" y="5074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1627632" y="500176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for search engines, editors or plagiarism tools working over huge text.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6126480" y="1874520"/>
            <a:ext cx="4846320" cy="3977640"/>
          </a:xfrm>
          <a:prstGeom prst="roundRect">
            <a:avLst>
              <a:gd name="adj" fmla="val 2759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46520" y="1682496"/>
            <a:ext cx="2212848" cy="384048"/>
          </a:xfrm>
          <a:prstGeom prst="roundRect">
            <a:avLst>
              <a:gd name="adj" fmla="val 47619"/>
            </a:avLst>
          </a:prstGeom>
          <a:solidFill>
            <a:srgbClr val="F7DCA8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446520" y="168249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6446520" y="2258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4A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Gap We're Closing</a:t>
            </a:r>
            <a:endParaRPr lang="en-US" sz="1700" dirty="0"/>
          </a:p>
        </p:txBody>
      </p:sp>
      <p:sp>
        <p:nvSpPr>
          <p:cNvPr id="80" name="Shape 78"/>
          <p:cNvSpPr/>
          <p:nvPr/>
        </p:nvSpPr>
        <p:spPr>
          <a:xfrm>
            <a:off x="6446520" y="2825496"/>
            <a:ext cx="256032" cy="256032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446520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6839712" y="275234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out repeated comparisons instead of restarting after every mismatch.</a:t>
            </a:r>
            <a:endParaRPr lang="en-US" sz="1250" dirty="0"/>
          </a:p>
        </p:txBody>
      </p:sp>
      <p:sp>
        <p:nvSpPr>
          <p:cNvPr id="83" name="Shape 81"/>
          <p:cNvSpPr/>
          <p:nvPr/>
        </p:nvSpPr>
        <p:spPr>
          <a:xfrm>
            <a:off x="6446520" y="3575304"/>
            <a:ext cx="256032" cy="256032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44652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6839712" y="350215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the pattern once, then reuse that work for the whole search.</a:t>
            </a:r>
            <a:endParaRPr lang="en-US" sz="1250" dirty="0"/>
          </a:p>
        </p:txBody>
      </p:sp>
      <p:sp>
        <p:nvSpPr>
          <p:cNvPr id="86" name="Shape 84"/>
          <p:cNvSpPr/>
          <p:nvPr/>
        </p:nvSpPr>
        <p:spPr>
          <a:xfrm>
            <a:off x="6446520" y="4325112"/>
            <a:ext cx="256032" cy="256032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44652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8" name="Text 86"/>
          <p:cNvSpPr txBox="1"/>
          <p:nvPr/>
        </p:nvSpPr>
        <p:spPr>
          <a:xfrm>
            <a:off x="6839712" y="425196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linear O(n + m) time no matter how much the pattern repeats itself.</a:t>
            </a:r>
            <a:endParaRPr lang="en-US" sz="1250" dirty="0"/>
          </a:p>
        </p:txBody>
      </p:sp>
      <p:sp>
        <p:nvSpPr>
          <p:cNvPr id="89" name="Shape 87"/>
          <p:cNvSpPr/>
          <p:nvPr/>
        </p:nvSpPr>
        <p:spPr>
          <a:xfrm>
            <a:off x="6446520" y="5074920"/>
            <a:ext cx="256032" cy="256032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446520" y="5074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6839712" y="500176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simple enough to build, test and demo within a DSA-3 project.</a:t>
            </a:r>
            <a:endParaRPr lang="en-US" sz="1250" dirty="0"/>
          </a:p>
        </p:txBody>
      </p:sp>
      <p:sp>
        <p:nvSpPr>
          <p:cNvPr id="93" name="Shape 91"/>
          <p:cNvSpPr/>
          <p:nvPr/>
        </p:nvSpPr>
        <p:spPr>
          <a:xfrm>
            <a:off x="11109960" y="6236208"/>
            <a:ext cx="384048" cy="384048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1109960" y="6236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9095DD56-FF58-8712-4AEF-D36E5AF57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830" y="294626"/>
            <a:ext cx="1431748" cy="1431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863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07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48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488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79552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17957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56362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94767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33172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71576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09981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48386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6791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63600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02005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540410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78815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617220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55624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74320"/>
            <a:ext cx="11612880" cy="6309360"/>
          </a:xfrm>
          <a:prstGeom prst="roundRect">
            <a:avLst>
              <a:gd name="adj" fmla="val 870"/>
            </a:avLst>
          </a:prstGeom>
          <a:ln w="22225">
            <a:solidFill>
              <a:srgbClr val="9C7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384048"/>
            <a:ext cx="11393424" cy="6089904"/>
          </a:xfrm>
          <a:prstGeom prst="roundRect">
            <a:avLst>
              <a:gd name="adj" fmla="val 751"/>
            </a:avLst>
          </a:prstGeom>
          <a:ln w="12700">
            <a:solidFill>
              <a:srgbClr val="F7DC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720000">
            <a:off x="530352" y="603504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3" name="Shape 51"/>
          <p:cNvSpPr/>
          <p:nvPr/>
        </p:nvSpPr>
        <p:spPr>
          <a:xfrm rot="-840000">
            <a:off x="11375136" y="548640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4" name="Shape 52"/>
          <p:cNvSpPr/>
          <p:nvPr/>
        </p:nvSpPr>
        <p:spPr>
          <a:xfrm rot="1200000">
            <a:off x="11448288" y="128016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5" name="Shape 53"/>
          <p:cNvSpPr/>
          <p:nvPr/>
        </p:nvSpPr>
        <p:spPr>
          <a:xfrm rot="-600000">
            <a:off x="512064" y="5349240"/>
            <a:ext cx="256032" cy="25603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6" name="Shape 54"/>
          <p:cNvSpPr/>
          <p:nvPr/>
        </p:nvSpPr>
        <p:spPr>
          <a:xfrm rot="720000">
            <a:off x="566928" y="137160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7" name="Shape 55"/>
          <p:cNvSpPr/>
          <p:nvPr/>
        </p:nvSpPr>
        <p:spPr>
          <a:xfrm rot="-360000">
            <a:off x="11430000" y="521208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68680" y="65836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66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Functionalities</a:t>
            </a:r>
            <a:endParaRPr lang="en-US" sz="3400" dirty="0"/>
          </a:p>
        </p:txBody>
      </p:sp>
      <p:sp>
        <p:nvSpPr>
          <p:cNvPr id="59" name="Text 57"/>
          <p:cNvSpPr txBox="1"/>
          <p:nvPr/>
        </p:nvSpPr>
        <p:spPr>
          <a:xfrm>
            <a:off x="886968" y="1335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KMP Text Finder will actually do, start to finish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14400" y="1874520"/>
            <a:ext cx="3230880" cy="1965960"/>
          </a:xfrm>
          <a:prstGeom prst="roundRect">
            <a:avLst>
              <a:gd name="adj" fmla="val 5581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8720" y="2130552"/>
            <a:ext cx="475488" cy="475488"/>
          </a:xfrm>
          <a:prstGeom prst="ellipse">
            <a:avLst/>
          </a:prstGeom>
          <a:solidFill>
            <a:srgbClr val="FBE8E2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188720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642360" y="2148840"/>
            <a:ext cx="201168" cy="201168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188720" y="2715768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Pattern &amp; Text Input</a:t>
            </a:r>
            <a:endParaRPr lang="en-US" sz="1450" dirty="0"/>
          </a:p>
        </p:txBody>
      </p:sp>
      <p:sp>
        <p:nvSpPr>
          <p:cNvPr id="65" name="Text 63"/>
          <p:cNvSpPr txBox="1"/>
          <p:nvPr/>
        </p:nvSpPr>
        <p:spPr>
          <a:xfrm>
            <a:off x="1188720" y="3090672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 a search pattern and a target text — typed straight in or loaded from a file.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465320" y="1874520"/>
            <a:ext cx="3230880" cy="1965960"/>
          </a:xfrm>
          <a:prstGeom prst="roundRect">
            <a:avLst>
              <a:gd name="adj" fmla="val 5581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39640" y="2130552"/>
            <a:ext cx="475488" cy="475488"/>
          </a:xfrm>
          <a:prstGeom prst="ellipse">
            <a:avLst/>
          </a:prstGeom>
          <a:solidFill>
            <a:srgbClr val="F7DCA8"/>
          </a:solidFill>
          <a:ln w="11430">
            <a:solidFill>
              <a:srgbClr val="F0B95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739640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 rot="660000">
            <a:off x="7193280" y="214884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739640" y="2715768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LPS Array Construction</a:t>
            </a:r>
            <a:endParaRPr lang="en-US" sz="1450" dirty="0"/>
          </a:p>
        </p:txBody>
      </p:sp>
      <p:sp>
        <p:nvSpPr>
          <p:cNvPr id="71" name="Text 69"/>
          <p:cNvSpPr txBox="1"/>
          <p:nvPr/>
        </p:nvSpPr>
        <p:spPr>
          <a:xfrm>
            <a:off x="4739640" y="3090672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the pattern into a Longest Prefix Suffix table before the search begins.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8016240" y="1874520"/>
            <a:ext cx="3230880" cy="1965960"/>
          </a:xfrm>
          <a:prstGeom prst="roundRect">
            <a:avLst>
              <a:gd name="adj" fmla="val 5581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90560" y="2130552"/>
            <a:ext cx="475488" cy="475488"/>
          </a:xfrm>
          <a:prstGeom prst="ellipse">
            <a:avLst/>
          </a:prstGeom>
          <a:solidFill>
            <a:srgbClr val="FBE8E2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290560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 rot="1320000">
            <a:off x="10744200" y="2148840"/>
            <a:ext cx="201168" cy="201168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8290560" y="2715768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Core KMP Search</a:t>
            </a:r>
            <a:endParaRPr lang="en-US" sz="1450" dirty="0"/>
          </a:p>
        </p:txBody>
      </p:sp>
      <p:sp>
        <p:nvSpPr>
          <p:cNvPr id="77" name="Text 75"/>
          <p:cNvSpPr txBox="1"/>
          <p:nvPr/>
        </p:nvSpPr>
        <p:spPr>
          <a:xfrm>
            <a:off x="8290560" y="3090672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text once, using the LPS table to skip re-checks and catch every match.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914400" y="4160520"/>
            <a:ext cx="3230880" cy="1965960"/>
          </a:xfrm>
          <a:prstGeom prst="roundRect">
            <a:avLst>
              <a:gd name="adj" fmla="val 5581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88720" y="4416552"/>
            <a:ext cx="475488" cy="475488"/>
          </a:xfrm>
          <a:prstGeom prst="ellipse">
            <a:avLst/>
          </a:prstGeom>
          <a:solidFill>
            <a:srgbClr val="F7DCA8"/>
          </a:solidFill>
          <a:ln w="11430">
            <a:solidFill>
              <a:srgbClr val="F0B95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188720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 rot="1980000">
            <a:off x="3642360" y="443484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188720" y="5001768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Match Reporting</a:t>
            </a:r>
            <a:endParaRPr lang="en-US" sz="1450" dirty="0"/>
          </a:p>
        </p:txBody>
      </p:sp>
      <p:sp>
        <p:nvSpPr>
          <p:cNvPr id="83" name="Text 81"/>
          <p:cNvSpPr txBox="1"/>
          <p:nvPr/>
        </p:nvSpPr>
        <p:spPr>
          <a:xfrm>
            <a:off x="1188720" y="5376672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occurrence of the pattern along with its exact index in the text.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4465320" y="4160520"/>
            <a:ext cx="3230880" cy="1965960"/>
          </a:xfrm>
          <a:prstGeom prst="roundRect">
            <a:avLst>
              <a:gd name="adj" fmla="val 5581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39640" y="4416552"/>
            <a:ext cx="475488" cy="475488"/>
          </a:xfrm>
          <a:prstGeom prst="ellipse">
            <a:avLst/>
          </a:prstGeom>
          <a:solidFill>
            <a:srgbClr val="FBE8E2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739640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 rot="2640000">
            <a:off x="7193280" y="4434840"/>
            <a:ext cx="201168" cy="201168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4739640" y="5001768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Speed Comparison</a:t>
            </a:r>
            <a:endParaRPr lang="en-US" sz="1450" dirty="0"/>
          </a:p>
        </p:txBody>
      </p:sp>
      <p:sp>
        <p:nvSpPr>
          <p:cNvPr id="89" name="Text 87"/>
          <p:cNvSpPr txBox="1"/>
          <p:nvPr/>
        </p:nvSpPr>
        <p:spPr>
          <a:xfrm>
            <a:off x="4739640" y="5376672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KMP against brute-force so the efficiency gain is visible, not just claimed.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8016240" y="4160520"/>
            <a:ext cx="3230880" cy="1965960"/>
          </a:xfrm>
          <a:prstGeom prst="roundRect">
            <a:avLst>
              <a:gd name="adj" fmla="val 5581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90560" y="4416552"/>
            <a:ext cx="475488" cy="475488"/>
          </a:xfrm>
          <a:prstGeom prst="ellipse">
            <a:avLst/>
          </a:prstGeom>
          <a:solidFill>
            <a:srgbClr val="F7DCA8"/>
          </a:solidFill>
          <a:ln w="11430">
            <a:solidFill>
              <a:srgbClr val="F0B95C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290560" y="4416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 rot="3300000">
            <a:off x="10744200" y="443484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8290560" y="5001768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Simple Interface</a:t>
            </a:r>
            <a:endParaRPr lang="en-US" sz="1450" dirty="0"/>
          </a:p>
        </p:txBody>
      </p:sp>
      <p:sp>
        <p:nvSpPr>
          <p:cNvPr id="95" name="Text 93"/>
          <p:cNvSpPr txBox="1"/>
          <p:nvPr/>
        </p:nvSpPr>
        <p:spPr>
          <a:xfrm>
            <a:off x="8290560" y="5376672"/>
            <a:ext cx="268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friendly front end so anyone can run a search without touching the code.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11109960" y="6236208"/>
            <a:ext cx="384048" cy="384048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1109960" y="6236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CD4E553F-1A6A-4F87-A71B-3571BF142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830" y="294626"/>
            <a:ext cx="1431748" cy="14317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863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07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48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488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79552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17957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56362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94767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33172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71576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09981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48386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6791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63600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02005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540410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78815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617220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55624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74320"/>
            <a:ext cx="11612880" cy="6309360"/>
          </a:xfrm>
          <a:prstGeom prst="roundRect">
            <a:avLst>
              <a:gd name="adj" fmla="val 870"/>
            </a:avLst>
          </a:prstGeom>
          <a:ln w="22225">
            <a:solidFill>
              <a:srgbClr val="9C7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384048"/>
            <a:ext cx="11393424" cy="6089904"/>
          </a:xfrm>
          <a:prstGeom prst="roundRect">
            <a:avLst>
              <a:gd name="adj" fmla="val 751"/>
            </a:avLst>
          </a:prstGeom>
          <a:ln w="12700">
            <a:solidFill>
              <a:srgbClr val="F7DC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720000">
            <a:off x="502920" y="566928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3" name="Shape 51"/>
          <p:cNvSpPr/>
          <p:nvPr/>
        </p:nvSpPr>
        <p:spPr>
          <a:xfrm rot="900000">
            <a:off x="548640" y="132588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4" name="Shape 52"/>
          <p:cNvSpPr/>
          <p:nvPr/>
        </p:nvSpPr>
        <p:spPr>
          <a:xfrm rot="600000">
            <a:off x="11384280" y="566928"/>
            <a:ext cx="256032" cy="25603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5" name="Shape 53"/>
          <p:cNvSpPr/>
          <p:nvPr/>
        </p:nvSpPr>
        <p:spPr>
          <a:xfrm rot="-1200000">
            <a:off x="11430000" y="1234440"/>
            <a:ext cx="164592" cy="16459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6" name="Shape 54"/>
          <p:cNvSpPr/>
          <p:nvPr/>
        </p:nvSpPr>
        <p:spPr>
          <a:xfrm rot="480000">
            <a:off x="530352" y="5257800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7" name="Shape 55"/>
          <p:cNvSpPr/>
          <p:nvPr/>
        </p:nvSpPr>
        <p:spPr>
          <a:xfrm rot="-480000">
            <a:off x="11411712" y="5394960"/>
            <a:ext cx="256032" cy="25603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68680" y="65836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66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59" name="Text 57"/>
          <p:cNvSpPr txBox="1"/>
          <p:nvPr/>
        </p:nvSpPr>
        <p:spPr>
          <a:xfrm>
            <a:off x="886968" y="1335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it with, and what we're building it on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14400" y="1874520"/>
            <a:ext cx="4846320" cy="3977640"/>
          </a:xfrm>
          <a:prstGeom prst="roundRect">
            <a:avLst>
              <a:gd name="adj" fmla="val 2759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34440" y="1682496"/>
            <a:ext cx="1773936" cy="384048"/>
          </a:xfrm>
          <a:prstGeom prst="roundRect">
            <a:avLst>
              <a:gd name="adj" fmla="val 47619"/>
            </a:avLst>
          </a:prstGeom>
          <a:solidFill>
            <a:srgbClr val="F7DCA8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234440" y="168249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STACK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1234440" y="251460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627632" y="239572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Language
</a:t>
            </a: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and HTML for the core logic, with clean, well-commented functions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 rot="540000">
            <a:off x="1234440" y="3383280"/>
            <a:ext cx="201168" cy="201168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627632" y="32644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Environment
</a:t>
            </a: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for writing, debugging and running test cases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 rot="1080000">
            <a:off x="1234440" y="425196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627632" y="413308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Interface
</a:t>
            </a: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demo, extendable to Tkinter or a small Flask app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 rot="1620000">
            <a:off x="1234440" y="5120640"/>
            <a:ext cx="201168" cy="201168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627632" y="5001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Version Control
</a:t>
            </a: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 to track progress and work as a team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126480" y="1874520"/>
            <a:ext cx="4846320" cy="3977640"/>
          </a:xfrm>
          <a:prstGeom prst="roundRect">
            <a:avLst>
              <a:gd name="adj" fmla="val 2759"/>
            </a:avLst>
          </a:prstGeom>
          <a:solidFill>
            <a:srgbClr val="FBE8E2"/>
          </a:solidFill>
          <a:ln w="15875">
            <a:solidFill>
              <a:srgbClr val="E28E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46520" y="1682496"/>
            <a:ext cx="2798064" cy="384048"/>
          </a:xfrm>
          <a:prstGeom prst="roundRect">
            <a:avLst>
              <a:gd name="adj" fmla="val 47619"/>
            </a:avLst>
          </a:prstGeom>
          <a:solidFill>
            <a:srgbClr val="FFFCF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446520" y="1682496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C4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APPLIED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446520" y="2496312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29400" y="2615184"/>
            <a:ext cx="219456" cy="219456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6995160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Strings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6446520" y="3044952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780000">
            <a:off x="6629400" y="3163824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6995160" y="30449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Function (the LPS array)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6446520" y="3593592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1560000">
            <a:off x="6629400" y="3712464"/>
            <a:ext cx="219456" cy="219456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995160" y="35935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Algorithms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446520" y="4142232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2340000">
            <a:off x="6629400" y="4261104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995160" y="4142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Analysis (Big-O)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446520" y="4690872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3120000">
            <a:off x="6629400" y="4809744"/>
            <a:ext cx="219456" cy="219456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6995160" y="4690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Techniques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446520" y="5239512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1430">
            <a:solidFill>
              <a:srgbClr val="E28E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3900000">
            <a:off x="6629400" y="5358384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995160" y="52395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Benchmarking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11109960" y="6236208"/>
            <a:ext cx="384048" cy="384048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1109960" y="6236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295D13E7-13F5-E848-EDB6-37A73CD24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830" y="286605"/>
            <a:ext cx="1431748" cy="14317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6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576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981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8386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91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0410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8815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839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7648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053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4458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863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6728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0776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64824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548872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932920" y="274320"/>
            <a:ext cx="0" cy="630936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148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79552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17957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156362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194767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33172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71576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09981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48386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86791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25196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63600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5020056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5404104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788152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6172200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556248"/>
            <a:ext cx="11612880" cy="0"/>
          </a:xfrm>
          <a:prstGeom prst="line">
            <a:avLst/>
          </a:prstGeom>
          <a:noFill/>
          <a:ln w="6350">
            <a:solidFill>
              <a:srgbClr val="EFE3D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74320"/>
            <a:ext cx="11612880" cy="6309360"/>
          </a:xfrm>
          <a:prstGeom prst="roundRect">
            <a:avLst>
              <a:gd name="adj" fmla="val 870"/>
            </a:avLst>
          </a:prstGeom>
          <a:ln w="22225">
            <a:solidFill>
              <a:srgbClr val="9C7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" y="384048"/>
            <a:ext cx="11393424" cy="6089904"/>
          </a:xfrm>
          <a:prstGeom prst="roundRect">
            <a:avLst>
              <a:gd name="adj" fmla="val 751"/>
            </a:avLst>
          </a:prstGeom>
          <a:ln w="12700">
            <a:solidFill>
              <a:srgbClr val="F7DCA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720000">
            <a:off x="530352" y="603504"/>
            <a:ext cx="219456" cy="21945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3" name="Shape 51"/>
          <p:cNvSpPr/>
          <p:nvPr/>
        </p:nvSpPr>
        <p:spPr>
          <a:xfrm rot="-840000">
            <a:off x="11375136" y="548640"/>
            <a:ext cx="274320" cy="274320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4" name="Shape 52"/>
          <p:cNvSpPr/>
          <p:nvPr/>
        </p:nvSpPr>
        <p:spPr>
          <a:xfrm rot="1200000">
            <a:off x="11448288" y="128016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5" name="Shape 53"/>
          <p:cNvSpPr/>
          <p:nvPr/>
        </p:nvSpPr>
        <p:spPr>
          <a:xfrm rot="-600000">
            <a:off x="512064" y="5349240"/>
            <a:ext cx="256032" cy="256032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56" name="Shape 54"/>
          <p:cNvSpPr/>
          <p:nvPr/>
        </p:nvSpPr>
        <p:spPr>
          <a:xfrm rot="720000">
            <a:off x="566928" y="1371600"/>
            <a:ext cx="164592" cy="164592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7" name="Shape 55"/>
          <p:cNvSpPr/>
          <p:nvPr/>
        </p:nvSpPr>
        <p:spPr>
          <a:xfrm rot="-360000">
            <a:off x="11430000" y="5212080"/>
            <a:ext cx="201168" cy="201168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68680" y="65836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4666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Expected Outcomes</a:t>
            </a:r>
            <a:endParaRPr lang="en-US" sz="3400" dirty="0"/>
          </a:p>
        </p:txBody>
      </p:sp>
      <p:sp>
        <p:nvSpPr>
          <p:cNvPr id="59" name="Text 57"/>
          <p:cNvSpPr txBox="1"/>
          <p:nvPr/>
        </p:nvSpPr>
        <p:spPr>
          <a:xfrm>
            <a:off x="886968" y="1335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setting out to prove and deliver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914400" y="1874520"/>
            <a:ext cx="4983480" cy="1783080"/>
          </a:xfrm>
          <a:prstGeom prst="roundRect">
            <a:avLst>
              <a:gd name="adj" fmla="val 6154"/>
            </a:avLst>
          </a:prstGeom>
          <a:solidFill>
            <a:srgbClr val="FBE8E2"/>
          </a:solidFill>
          <a:ln w="15875">
            <a:solidFill>
              <a:srgbClr val="E28E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25296" y="2167128"/>
            <a:ext cx="310896" cy="310896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691640" y="20939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working KMP Text Finder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1234440" y="267919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reliably finds every occurrence of a pattern in a text using the KMP algorithm.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263640" y="1874520"/>
            <a:ext cx="4983480" cy="1783080"/>
          </a:xfrm>
          <a:prstGeom prst="roundRect">
            <a:avLst>
              <a:gd name="adj" fmla="val 6154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600000">
            <a:off x="6574536" y="2167128"/>
            <a:ext cx="310896" cy="31089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7040880" y="20939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Efficiency we can measure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0" y="267919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demo showing KMP's O(n + m) search leaving brute-force behind on large inputs.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914400" y="4005072"/>
            <a:ext cx="4983480" cy="1783080"/>
          </a:xfrm>
          <a:prstGeom prst="roundRect">
            <a:avLst>
              <a:gd name="adj" fmla="val 6154"/>
            </a:avLst>
          </a:prstGeom>
          <a:solidFill>
            <a:srgbClr val="FFFCF6"/>
          </a:solidFill>
          <a:ln w="15875">
            <a:solidFill>
              <a:srgbClr val="9C7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1200000">
            <a:off x="1225296" y="4297680"/>
            <a:ext cx="310896" cy="310896"/>
          </a:xfrm>
          <a:prstGeom prst="star5">
            <a:avLst/>
          </a:prstGeom>
          <a:solidFill>
            <a:srgbClr val="F0B95C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691640" y="42245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firmer grip on DSA-3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1234440" y="480974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hands-on understanding of preprocessing, the LPS array and complexity analysis.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63640" y="4005072"/>
            <a:ext cx="4983480" cy="1783080"/>
          </a:xfrm>
          <a:prstGeom prst="roundRect">
            <a:avLst>
              <a:gd name="adj" fmla="val 6154"/>
            </a:avLst>
          </a:prstGeom>
          <a:solidFill>
            <a:srgbClr val="FBE8E2"/>
          </a:solidFill>
          <a:ln w="15875">
            <a:solidFill>
              <a:srgbClr val="E28E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1800000">
            <a:off x="6574536" y="4297680"/>
            <a:ext cx="310896" cy="310896"/>
          </a:xfrm>
          <a:prstGeom prst="star5">
            <a:avLst/>
          </a:prstGeom>
          <a:solidFill>
            <a:srgbClr val="E28E8E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7040880" y="42245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666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base for bigger things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0" y="480974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that can grow into search tools, editors, plagiarism checks and retrieval systems.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11109960" y="6236208"/>
            <a:ext cx="384048" cy="384048"/>
          </a:xfrm>
          <a:prstGeom prst="ellipse">
            <a:avLst/>
          </a:prstGeom>
          <a:solidFill>
            <a:srgbClr val="F7DCA8"/>
          </a:solidFill>
          <a:ln w="9525">
            <a:solidFill>
              <a:srgbClr val="F0B95C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1109960" y="6236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2453527F-B2CE-7088-6215-EE624E23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830" y="294626"/>
            <a:ext cx="1431748" cy="1431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757</Words>
  <Application>Microsoft Office PowerPoint</Application>
  <PresentationFormat>Widescreen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asthrapilla@outlook.com</cp:lastModifiedBy>
  <cp:revision>2</cp:revision>
  <dcterms:created xsi:type="dcterms:W3CDTF">2026-09-18T05:06:09Z</dcterms:created>
  <dcterms:modified xsi:type="dcterms:W3CDTF">2026-10-01T05:02:50Z</dcterms:modified>
</cp:coreProperties>
</file>